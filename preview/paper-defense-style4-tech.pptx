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_school"/>
          <p:cNvSpPr/>
          <p:nvPr/>
        </p:nvSpPr>
        <p:spPr>
          <a:xfrm>
            <a:off x="0" y="0"/>
            <a:ext cx="17907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FFFFF"/>
                </a:solidFill>
                <a:latin typeface="微软雅黑"/>
              </a:rPr>
              <a:t>XX大学</a:t>
            </a:r>
          </a:p>
        </p:txBody>
      </p:sp>
      <p:sp>
        <p:nvSpPr>
          <p:cNvPr id="6" name="drawio2pptx:shape:p1_kind"/>
          <p:cNvSpPr/>
          <p:nvPr/>
        </p:nvSpPr>
        <p:spPr>
          <a:xfrm>
            <a:off x="0" y="1619250"/>
            <a:ext cx="18288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硕士学位论文答辩</a:t>
            </a:r>
          </a:p>
        </p:txBody>
      </p:sp>
      <p:sp>
        <p:nvSpPr>
          <p:cNvPr id="7" name="drawio2pptx:shape:p1_t1"/>
          <p:cNvSpPr/>
          <p:nvPr/>
        </p:nvSpPr>
        <p:spPr>
          <a:xfrm>
            <a:off x="1143000" y="2667000"/>
            <a:ext cx="1600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u="none">
                <a:solidFill>
                  <a:srgbClr val="1A1A2E"/>
                </a:solidFill>
                <a:latin typeface="微软雅黑"/>
              </a:rPr>
              <a:t>基于深度学习与多传感器融合的</a:t>
            </a:r>
          </a:p>
        </p:txBody>
      </p:sp>
      <p:sp>
        <p:nvSpPr>
          <p:cNvPr id="8" name="drawio2pptx:shape:p1_t2"/>
          <p:cNvSpPr/>
          <p:nvPr/>
        </p:nvSpPr>
        <p:spPr>
          <a:xfrm>
            <a:off x="1143000" y="3333750"/>
            <a:ext cx="1600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u="none">
                <a:solidFill>
                  <a:srgbClr val="1A1A2E"/>
                </a:solidFill>
                <a:latin typeface="微软雅黑"/>
              </a:rPr>
              <a:t>自动驾驶路径规划方法研究</a:t>
            </a:r>
          </a:p>
        </p:txBody>
      </p:sp>
      <p:sp>
        <p:nvSpPr>
          <p:cNvPr id="9" name="drawio2pptx:shape:p1_midline"/>
          <p:cNvSpPr/>
          <p:nvPr/>
        </p:nvSpPr>
        <p:spPr>
          <a:xfrm>
            <a:off x="3429000" y="4286250"/>
            <a:ext cx="114300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_b1"/>
          <p:cNvSpPr/>
          <p:nvPr/>
        </p:nvSpPr>
        <p:spPr>
          <a:xfrm>
            <a:off x="5334000" y="51435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_i1"/>
          <p:cNvSpPr/>
          <p:nvPr/>
        </p:nvSpPr>
        <p:spPr>
          <a:xfrm>
            <a:off x="5524500" y="51435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汇报人：张三</a:t>
            </a:r>
          </a:p>
        </p:txBody>
      </p:sp>
      <p:sp>
        <p:nvSpPr>
          <p:cNvPr id="12" name="drawio2pptx:shape:p1_b2"/>
          <p:cNvSpPr/>
          <p:nvPr/>
        </p:nvSpPr>
        <p:spPr>
          <a:xfrm>
            <a:off x="5334000" y="57150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_i2"/>
          <p:cNvSpPr/>
          <p:nvPr/>
        </p:nvSpPr>
        <p:spPr>
          <a:xfrm>
            <a:off x="5524500" y="57150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指导教师：李教授</a:t>
            </a:r>
          </a:p>
        </p:txBody>
      </p:sp>
      <p:sp>
        <p:nvSpPr>
          <p:cNvPr id="14" name="drawio2pptx:shape:p1_b3"/>
          <p:cNvSpPr/>
          <p:nvPr/>
        </p:nvSpPr>
        <p:spPr>
          <a:xfrm>
            <a:off x="5334000" y="62865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_i3"/>
          <p:cNvSpPr/>
          <p:nvPr/>
        </p:nvSpPr>
        <p:spPr>
          <a:xfrm>
            <a:off x="5524500" y="62865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学科专业：计算机科学与技术</a:t>
            </a:r>
          </a:p>
        </p:txBody>
      </p:sp>
      <p:sp>
        <p:nvSpPr>
          <p:cNvPr id="16" name="drawio2pptx:shape:p1_b4"/>
          <p:cNvSpPr/>
          <p:nvPr/>
        </p:nvSpPr>
        <p:spPr>
          <a:xfrm>
            <a:off x="5334000" y="68580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rawio2pptx:shape:p1_i4"/>
          <p:cNvSpPr/>
          <p:nvPr/>
        </p:nvSpPr>
        <p:spPr>
          <a:xfrm>
            <a:off x="5524500" y="68580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研究方向：计算机视觉 / 人工智能 / 自动驾驶</a:t>
            </a:r>
          </a:p>
        </p:txBody>
      </p:sp>
      <p:sp>
        <p:nvSpPr>
          <p:cNvPr id="18" name="drawio2pptx:shape:p1_date"/>
          <p:cNvSpPr/>
          <p:nvPr/>
        </p:nvSpPr>
        <p:spPr>
          <a:xfrm>
            <a:off x="13335000" y="9715500"/>
            <a:ext cx="4762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目录</a:t>
            </a:r>
          </a:p>
        </p:txBody>
      </p:sp>
      <p:sp>
        <p:nvSpPr>
          <p:cNvPr id="6" name="drawio2pptx:shape:p2_b1"/>
          <p:cNvSpPr/>
          <p:nvPr/>
        </p:nvSpPr>
        <p:spPr>
          <a:xfrm>
            <a:off x="1333500" y="1905000"/>
            <a:ext cx="9525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_t1"/>
          <p:cNvSpPr/>
          <p:nvPr/>
        </p:nvSpPr>
        <p:spPr>
          <a:xfrm>
            <a:off x="1571625" y="19050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01  研究背景与意义</a:t>
            </a:r>
          </a:p>
        </p:txBody>
      </p:sp>
      <p:sp>
        <p:nvSpPr>
          <p:cNvPr id="8" name="drawio2pptx:shape:p2_b2"/>
          <p:cNvSpPr/>
          <p:nvPr/>
        </p:nvSpPr>
        <p:spPr>
          <a:xfrm>
            <a:off x="1333500" y="2552700"/>
            <a:ext cx="9525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_t2"/>
          <p:cNvSpPr/>
          <p:nvPr/>
        </p:nvSpPr>
        <p:spPr>
          <a:xfrm>
            <a:off x="1571625" y="25527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02  国内外研究现状</a:t>
            </a:r>
          </a:p>
        </p:txBody>
      </p:sp>
      <p:sp>
        <p:nvSpPr>
          <p:cNvPr id="10" name="drawio2pptx:shape:p2_b3"/>
          <p:cNvSpPr/>
          <p:nvPr/>
        </p:nvSpPr>
        <p:spPr>
          <a:xfrm>
            <a:off x="1333500" y="3200400"/>
            <a:ext cx="95250" cy="419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_t3"/>
          <p:cNvSpPr/>
          <p:nvPr/>
        </p:nvSpPr>
        <p:spPr>
          <a:xfrm>
            <a:off x="1571625" y="32004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03  方法总览</a:t>
            </a:r>
          </a:p>
        </p:txBody>
      </p:sp>
      <p:sp>
        <p:nvSpPr>
          <p:cNvPr id="12" name="drawio2pptx:shape:p2_b4"/>
          <p:cNvSpPr/>
          <p:nvPr/>
        </p:nvSpPr>
        <p:spPr>
          <a:xfrm>
            <a:off x="1333500" y="3848100"/>
            <a:ext cx="9525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_t4"/>
          <p:cNvSpPr/>
          <p:nvPr/>
        </p:nvSpPr>
        <p:spPr>
          <a:xfrm>
            <a:off x="1571625" y="38481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04  实验结果</a:t>
            </a:r>
          </a:p>
        </p:txBody>
      </p:sp>
      <p:sp>
        <p:nvSpPr>
          <p:cNvPr id="14" name="drawio2pptx:shape:p2_b5"/>
          <p:cNvSpPr/>
          <p:nvPr/>
        </p:nvSpPr>
        <p:spPr>
          <a:xfrm>
            <a:off x="1333500" y="4495800"/>
            <a:ext cx="9525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2_t5"/>
          <p:cNvSpPr/>
          <p:nvPr/>
        </p:nvSpPr>
        <p:spPr>
          <a:xfrm>
            <a:off x="1571625" y="44958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05  系统设计与实现</a:t>
            </a:r>
          </a:p>
        </p:txBody>
      </p:sp>
      <p:sp>
        <p:nvSpPr>
          <p:cNvPr id="16" name="drawio2pptx:shape:p2_b6"/>
          <p:cNvSpPr/>
          <p:nvPr/>
        </p:nvSpPr>
        <p:spPr>
          <a:xfrm>
            <a:off x="1333500" y="5143500"/>
            <a:ext cx="9525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rawio2pptx:shape:p2_t6"/>
          <p:cNvSpPr/>
          <p:nvPr/>
        </p:nvSpPr>
        <p:spPr>
          <a:xfrm>
            <a:off x="1571625" y="51435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06  总结与展望</a:t>
            </a:r>
          </a:p>
        </p:txBody>
      </p:sp>
      <p:sp>
        <p:nvSpPr>
          <p:cNvPr id="18" name="drawio2pptx:shape:p2_contents"/>
          <p:cNvSpPr/>
          <p:nvPr/>
        </p:nvSpPr>
        <p:spPr>
          <a:xfrm>
            <a:off x="10287000" y="2286000"/>
            <a:ext cx="7239000" cy="495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E2E8F0"/>
                </a:solidFill>
                <a:latin typeface="微软雅黑"/>
              </a:rPr>
              <a:t>CONTENTS</a:t>
            </a:r>
          </a:p>
        </p:txBody>
      </p:sp>
      <p:sp>
        <p:nvSpPr>
          <p:cNvPr id="19" name="drawio2pptx:shape:p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rawio2pptx:shape:p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3_sec0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3_sec01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01</a:t>
            </a:r>
          </a:p>
        </p:txBody>
      </p:sp>
      <p:sp>
        <p:nvSpPr>
          <p:cNvPr id="4" name="drawio2pptx:shape:p3_sec01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drawio2pptx:shape:p3_sec01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研究背景与意义</a:t>
            </a:r>
          </a:p>
        </p:txBody>
      </p:sp>
      <p:sp>
        <p:nvSpPr>
          <p:cNvPr id="6" name="drawio2pptx:shape:p3_sec01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3_sec01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3_sec01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3_sec01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3_sec01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3_sec01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3_sec01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3_sec01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3_sec01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4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4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4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4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4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4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4_OhbVr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4_oiVgRV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研究背景</a:t>
            </a:r>
          </a:p>
        </p:txBody>
      </p:sp>
      <p:sp>
        <p:nvSpPr>
          <p:cNvPr id="10" name="drawio2pptx:shape:p4_5IfLBc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自动驾驶加速落地，安全与效率要求更高
• 路径规划处于“感知-决策-控制”链路核心，直接影响行驶安全性
• 城市复杂路况存在动态障碍物、交叉口博弈等不确定性
• 传统规则/搜索方法在复杂动态环境下适应性不足</a:t>
            </a:r>
          </a:p>
        </p:txBody>
      </p:sp>
      <p:sp>
        <p:nvSpPr>
          <p:cNvPr id="11" name="drawio2pptx:shape:p4_bfnoGM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4_bJmTPS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研究意义</a:t>
            </a:r>
          </a:p>
        </p:txBody>
      </p:sp>
      <p:sp>
        <p:nvSpPr>
          <p:cNvPr id="13" name="drawio2pptx:shape:p4_IAoCLr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深度强化学习具备端到端学习能力，可在交互中学习决策策略
• 多传感器融合提升环境建模鲁棒性与精度（LiDAR/Camera/Radar 互补）
• 面向复杂动态场景，兼顾实时性与可行性规划需求
• 为工程落地提供可复现实验与系统实现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5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5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5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5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5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5_Z3aWZk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5_SBvrjn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关键挑战</a:t>
            </a:r>
          </a:p>
        </p:txBody>
      </p:sp>
      <p:sp>
        <p:nvSpPr>
          <p:cNvPr id="10" name="drawio2pptx:shape:p5_9Wvgfy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动态障碍物避让与安全距离约束
• 局部最优与策略稳定性（训练收敛、泛化）
• 多源感知异步与噪声导致的融合误差
• 实时推理与规划延迟约束</a:t>
            </a:r>
          </a:p>
        </p:txBody>
      </p:sp>
      <p:sp>
        <p:nvSpPr>
          <p:cNvPr id="11" name="drawio2pptx:shape:p5_gw2wMq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5_ZcUDIh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研究目标</a:t>
            </a:r>
          </a:p>
        </p:txBody>
      </p:sp>
      <p:sp>
        <p:nvSpPr>
          <p:cNvPr id="13" name="drawio2pptx:shape:p5_7yfJs1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构建 DRL 路径规划优化算法，提高避障精度和规划效率
• 设计多传感器融合网络，提升复杂路况下鲁棒性和精度
• 在 CARLA 仿真平台构建数据集并进行系统评测
• 实现可演示系统，完成可视化监控与闭环验证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6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6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6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6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6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6_ON43xK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6_mTecQo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主要研究内容</a:t>
            </a:r>
          </a:p>
        </p:txBody>
      </p:sp>
      <p:sp>
        <p:nvSpPr>
          <p:cNvPr id="10" name="drawio2pptx:shape:p6_Xsf2o3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D-RL-Path：基于 DDPG 的路径规划优化与策略改进
• Fusion-Path：CNN+RNN 的多传感器特征融合与决策优化
• CARLA 数据集构建、指标体系与对比/消融实验
• 前后端分离系统实现与仿真平台验证</a:t>
            </a:r>
          </a:p>
        </p:txBody>
      </p:sp>
      <p:sp>
        <p:nvSpPr>
          <p:cNvPr id="11" name="drawio2pptx:shape:p6_gyrDO1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6_xkxwnQ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章节安排</a:t>
            </a:r>
          </a:p>
        </p:txBody>
      </p:sp>
      <p:sp>
        <p:nvSpPr>
          <p:cNvPr id="13" name="drawio2pptx:shape:p6_rS7RPe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第 1 章：背景与现状，提出问题与目标
• 第 2 章：理论基础、基准算法与评价指标
• 第 3–4 章：方法创新（DRL 优化 + 多传感器融合）
• 第 5–6 章：系统实现、总结与展望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7_sec0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7_sec02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02</a:t>
            </a:r>
          </a:p>
        </p:txBody>
      </p:sp>
      <p:sp>
        <p:nvSpPr>
          <p:cNvPr id="4" name="drawio2pptx:shape:p7_sec02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drawio2pptx:shape:p7_sec02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国内外研究现状</a:t>
            </a:r>
          </a:p>
        </p:txBody>
      </p:sp>
      <p:sp>
        <p:nvSpPr>
          <p:cNvPr id="6" name="drawio2pptx:shape:p7_sec02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7_sec02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7_sec02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7_sec02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7_sec02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7_sec02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7_sec02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7_sec02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7_sec02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8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8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8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8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02. 国内外研究现状</a:t>
            </a:r>
          </a:p>
        </p:txBody>
      </p:sp>
      <p:sp>
        <p:nvSpPr>
          <p:cNvPr id="6" name="drawio2pptx:shape:p8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8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8_MOkIU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8_kDyr7O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自动驾驶路径规划发展现状</a:t>
            </a:r>
          </a:p>
        </p:txBody>
      </p:sp>
      <p:sp>
        <p:nvSpPr>
          <p:cNvPr id="10" name="drawio2pptx:shape:p8_SJoRu1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基于搜索/采样：A*、RRT* 等在结构化环境有效，但动态适应不足
• 基于优化：MPC 等可融合约束，但模型与计算成本较高
• 学习型方法：端到端建模，泛化与可解释性仍是难点
• DRL：通过交互学习策略，适合高维状态与不确定环境</a:t>
            </a:r>
          </a:p>
        </p:txBody>
      </p:sp>
      <p:sp>
        <p:nvSpPr>
          <p:cNvPr id="11" name="drawio2pptx:shape:p8_XXdo0c_badge"/>
          <p:cNvSpPr/>
          <p:nvPr/>
        </p:nvSpPr>
        <p:spPr>
          <a:xfrm>
            <a:off x="952500" y="5619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8_Zuzren_t"/>
          <p:cNvSpPr/>
          <p:nvPr/>
        </p:nvSpPr>
        <p:spPr>
          <a:xfrm>
            <a:off x="1143000" y="56197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多传感器融合与深度学习应用</a:t>
            </a:r>
          </a:p>
        </p:txBody>
      </p:sp>
      <p:sp>
        <p:nvSpPr>
          <p:cNvPr id="13" name="drawio2pptx:shape:p8_68K4Tu_b"/>
          <p:cNvSpPr/>
          <p:nvPr/>
        </p:nvSpPr>
        <p:spPr>
          <a:xfrm>
            <a:off x="1143000" y="6096000"/>
            <a:ext cx="16002000" cy="3143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融合层级：早期融合 / 特征融合 / 决策融合
• LiDAR 提供几何结构，Camera 提供语义信息，Radar 适合测速测距
• 深度融合（CNN/RNN/Attention）提升鲁棒性，但实时部署与异步对齐复杂
• 研究趋势：轻量化、多任务学习、端到端闭环验证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9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9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9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9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02. 国内外研究现状</a:t>
            </a:r>
          </a:p>
        </p:txBody>
      </p:sp>
      <p:sp>
        <p:nvSpPr>
          <p:cNvPr id="6" name="drawio2pptx:shape:p9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9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9_nPFz46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9_PDjqip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现有方法局限性（本文切入点）</a:t>
            </a:r>
          </a:p>
        </p:txBody>
      </p:sp>
      <p:sp>
        <p:nvSpPr>
          <p:cNvPr id="10" name="drawio2pptx:shape:p9_VJIqVL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传统方法依赖规则或精确模型，面对高度动态场景性能下降
• 单传感器依赖导致感知不完整，易受遮挡/噪声影响
• 深度学习方法对数据依赖强，跨场景泛化不足
• 端到端系统缺少工程化验证与可复现实验对比</a:t>
            </a:r>
          </a:p>
        </p:txBody>
      </p:sp>
      <p:sp>
        <p:nvSpPr>
          <p:cNvPr id="11" name="drawio2pptx:shape:p9_B5Lzxo_badge"/>
          <p:cNvSpPr/>
          <p:nvPr/>
        </p:nvSpPr>
        <p:spPr>
          <a:xfrm>
            <a:off x="952500" y="5619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9_iGFfWd_t"/>
          <p:cNvSpPr/>
          <p:nvPr/>
        </p:nvSpPr>
        <p:spPr>
          <a:xfrm>
            <a:off x="1143000" y="56197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本文工作定位</a:t>
            </a:r>
          </a:p>
        </p:txBody>
      </p:sp>
      <p:sp>
        <p:nvSpPr>
          <p:cNvPr id="13" name="drawio2pptx:shape:p9_3hjOkY_b"/>
          <p:cNvSpPr/>
          <p:nvPr/>
        </p:nvSpPr>
        <p:spPr>
          <a:xfrm>
            <a:off x="1143000" y="6096000"/>
            <a:ext cx="16002000" cy="3143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以 DDPG 为基准，提出 DRL 路径规划优化方案（D-RL-Path）
• 以 CNN+RNN 为融合骨干，提出多传感器融合路径规划网络（Fusion-Path）
• 构建 CARLA 仿真数据集，定义评价指标并开展对比/消融实验
• 实现系统原型，支撑实验复现与演示验证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0_sec0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0_sec03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03</a:t>
            </a:r>
          </a:p>
        </p:txBody>
      </p:sp>
      <p:sp>
        <p:nvSpPr>
          <p:cNvPr id="4" name="drawio2pptx:shape:p10_sec03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" name="drawio2pptx:shape:p10_sec03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方法总览</a:t>
            </a:r>
          </a:p>
        </p:txBody>
      </p:sp>
      <p:sp>
        <p:nvSpPr>
          <p:cNvPr id="6" name="drawio2pptx:shape:p10_sec03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深度强化学习路径规划优化 × 多传感器信息融合</a:t>
            </a:r>
          </a:p>
        </p:txBody>
      </p:sp>
      <p:sp>
        <p:nvSpPr>
          <p:cNvPr id="7" name="drawio2pptx:shape:p10_sec03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0_sec03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0_sec03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0_sec03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0_sec03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0_sec03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0_sec03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0_sec03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0_sec03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1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1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1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1_RBMeyy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1_MDHqJ3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方法总览（合并汇报）</a:t>
            </a:r>
          </a:p>
        </p:txBody>
      </p:sp>
      <p:sp>
        <p:nvSpPr>
          <p:cNvPr id="10" name="drawio2pptx:shape:p11_8aRUhR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本文从“DRL 路径规划优化”和“多传感器信息融合”两方面提出改进
• 形成 D-RL-Path（算法优化）与 Fusion-Path（融合网络）两条技术线
• 目标：提升避障精度、路径效率、复杂路况鲁棒性与系统稳定性</a:t>
            </a:r>
          </a:p>
        </p:txBody>
      </p:sp>
      <p:sp>
        <p:nvSpPr>
          <p:cNvPr id="11" name="drawio2pptx:shape:p11_blk1"/>
          <p:cNvSpPr/>
          <p:nvPr/>
        </p:nvSpPr>
        <p:spPr>
          <a:xfrm>
            <a:off x="1333500" y="5810250"/>
            <a:ext cx="2095500" cy="57150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环境感知</a:t>
            </a:r>
          </a:p>
        </p:txBody>
      </p:sp>
      <p:cxnSp>
        <p:nvCxnSpPr>
          <p:cNvPr id="12" name="drawio2pptx:connector:p11_arr1"/>
          <p:cNvCxnSpPr/>
          <p:nvPr/>
        </p:nvCxnSpPr>
        <p:spPr>
          <a:xfrm>
            <a:off x="3524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rawio2pptx:shape:p11_blk2"/>
          <p:cNvSpPr/>
          <p:nvPr/>
        </p:nvSpPr>
        <p:spPr>
          <a:xfrm>
            <a:off x="4000500" y="5810250"/>
            <a:ext cx="2095500" cy="5715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状态表示</a:t>
            </a:r>
          </a:p>
        </p:txBody>
      </p:sp>
      <p:cxnSp>
        <p:nvCxnSpPr>
          <p:cNvPr id="14" name="drawio2pptx:connector:p11_arr2"/>
          <p:cNvCxnSpPr/>
          <p:nvPr/>
        </p:nvCxnSpPr>
        <p:spPr>
          <a:xfrm>
            <a:off x="6191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rawio2pptx:shape:p11_blk3"/>
          <p:cNvSpPr/>
          <p:nvPr/>
        </p:nvSpPr>
        <p:spPr>
          <a:xfrm>
            <a:off x="6667500" y="5810250"/>
            <a:ext cx="2095500" cy="571500"/>
          </a:xfrm>
          <a:prstGeom prst="round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策略网络</a:t>
            </a:r>
          </a:p>
        </p:txBody>
      </p:sp>
      <p:cxnSp>
        <p:nvCxnSpPr>
          <p:cNvPr id="16" name="drawio2pptx:connector:p11_arr3"/>
          <p:cNvCxnSpPr/>
          <p:nvPr/>
        </p:nvCxnSpPr>
        <p:spPr>
          <a:xfrm>
            <a:off x="8858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rawio2pptx:shape:p11_blk4"/>
          <p:cNvSpPr/>
          <p:nvPr/>
        </p:nvSpPr>
        <p:spPr>
          <a:xfrm>
            <a:off x="9334500" y="5810250"/>
            <a:ext cx="2095500" cy="5715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动作输出</a:t>
            </a:r>
          </a:p>
        </p:txBody>
      </p:sp>
      <p:cxnSp>
        <p:nvCxnSpPr>
          <p:cNvPr id="18" name="drawio2pptx:connector:p11_arr4"/>
          <p:cNvCxnSpPr/>
          <p:nvPr/>
        </p:nvCxnSpPr>
        <p:spPr>
          <a:xfrm>
            <a:off x="11525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rawio2pptx:shape:p11_blk5"/>
          <p:cNvSpPr/>
          <p:nvPr/>
        </p:nvSpPr>
        <p:spPr>
          <a:xfrm>
            <a:off x="12001500" y="5810250"/>
            <a:ext cx="2095500" cy="57150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轨迹生成</a:t>
            </a:r>
          </a:p>
        </p:txBody>
      </p:sp>
      <p:cxnSp>
        <p:nvCxnSpPr>
          <p:cNvPr id="20" name="drawio2pptx:connector:p11_arr5"/>
          <p:cNvCxnSpPr/>
          <p:nvPr/>
        </p:nvCxnSpPr>
        <p:spPr>
          <a:xfrm>
            <a:off x="14192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rawio2pptx:shape:p11_blk6"/>
          <p:cNvSpPr/>
          <p:nvPr/>
        </p:nvSpPr>
        <p:spPr>
          <a:xfrm>
            <a:off x="14668500" y="5810250"/>
            <a:ext cx="2095500" cy="571500"/>
          </a:xfrm>
          <a:prstGeom prst="round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控制执行</a:t>
            </a:r>
          </a:p>
        </p:txBody>
      </p:sp>
      <p:sp>
        <p:nvSpPr>
          <p:cNvPr id="22" name="drawio2pptx:shape:p11_d0"/>
          <p:cNvSpPr/>
          <p:nvPr/>
        </p:nvSpPr>
        <p:spPr>
          <a:xfrm>
            <a:off x="9525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1_d1"/>
          <p:cNvSpPr/>
          <p:nvPr/>
        </p:nvSpPr>
        <p:spPr>
          <a:xfrm>
            <a:off x="11239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rawio2pptx:shape:p11_d2"/>
          <p:cNvSpPr/>
          <p:nvPr/>
        </p:nvSpPr>
        <p:spPr>
          <a:xfrm>
            <a:off x="12954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rawio2pptx:shape:p11_d3"/>
          <p:cNvSpPr/>
          <p:nvPr/>
        </p:nvSpPr>
        <p:spPr>
          <a:xfrm>
            <a:off x="14668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rawio2pptx:shape:p11_d4"/>
          <p:cNvSpPr/>
          <p:nvPr/>
        </p:nvSpPr>
        <p:spPr>
          <a:xfrm>
            <a:off x="16383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rawio2pptx:shape:p11_d5"/>
          <p:cNvSpPr/>
          <p:nvPr/>
        </p:nvSpPr>
        <p:spPr>
          <a:xfrm>
            <a:off x="18097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2_4IWrX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2_vhsBkD_t"/>
          <p:cNvSpPr/>
          <p:nvPr/>
        </p:nvSpPr>
        <p:spPr>
          <a:xfrm>
            <a:off x="1143000" y="161925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3.1 D-RL-Path（DRL 优化）</a:t>
            </a:r>
          </a:p>
        </p:txBody>
      </p:sp>
      <p:sp>
        <p:nvSpPr>
          <p:cNvPr id="10" name="drawio2pptx:shape:p12_a9U4Uq_b"/>
          <p:cNvSpPr/>
          <p:nvPr/>
        </p:nvSpPr>
        <p:spPr>
          <a:xfrm>
            <a:off x="1143000" y="2095500"/>
            <a:ext cx="74295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以 DDPG 为基准，优化连续动作空间策略学习
• 引入轨迹预测/奖励设计，提升动态避障能力
• 提高规划实时性与稳定性，降低碰撞与震荡</a:t>
            </a:r>
          </a:p>
        </p:txBody>
      </p:sp>
      <p:sp>
        <p:nvSpPr>
          <p:cNvPr id="11" name="drawio2pptx:shape:p12_GWlG6g_badge"/>
          <p:cNvSpPr/>
          <p:nvPr/>
        </p:nvSpPr>
        <p:spPr>
          <a:xfrm>
            <a:off x="9334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2_3Ot1OG_t"/>
          <p:cNvSpPr/>
          <p:nvPr/>
        </p:nvSpPr>
        <p:spPr>
          <a:xfrm>
            <a:off x="9525000" y="1619250"/>
            <a:ext cx="7810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3.2 Fusion-Path（融合网络）</a:t>
            </a:r>
          </a:p>
        </p:txBody>
      </p:sp>
      <p:sp>
        <p:nvSpPr>
          <p:cNvPr id="13" name="drawio2pptx:shape:p12_MmjxWk_b"/>
          <p:cNvSpPr/>
          <p:nvPr/>
        </p:nvSpPr>
        <p:spPr>
          <a:xfrm>
            <a:off x="9525000" y="2095500"/>
            <a:ext cx="7620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融合 LiDAR/Camera/Radar，多源信息互补
• CNN 提取空间特征，RNN 建模时序依赖
• 强化学习联合优化，提高复杂路况鲁棒性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3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3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3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3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3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3_I9X7H6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3_aMuFbh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关键设计要点</a:t>
            </a:r>
          </a:p>
        </p:txBody>
      </p:sp>
      <p:sp>
        <p:nvSpPr>
          <p:cNvPr id="10" name="drawio2pptx:shape:p13_7x41Zt_b"/>
          <p:cNvSpPr/>
          <p:nvPr/>
        </p:nvSpPr>
        <p:spPr>
          <a:xfrm>
            <a:off x="1143000" y="2095500"/>
            <a:ext cx="16002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奖励函数：安全性（碰撞/距离）+ 效率（长度/耗时）+ 平滑性
• 状态编码：多传感器特征融合与时序建模
• 训练策略：经验回放、目标网络、探索噪声
• 工程约束：推理延迟与部署资源（实时性优先）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4_sec04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4_sec04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04</a:t>
            </a:r>
          </a:p>
        </p:txBody>
      </p:sp>
      <p:sp>
        <p:nvSpPr>
          <p:cNvPr id="4" name="drawio2pptx:shape:p14_sec04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" name="drawio2pptx:shape:p14_sec04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实验结果</a:t>
            </a:r>
          </a:p>
        </p:txBody>
      </p:sp>
      <p:sp>
        <p:nvSpPr>
          <p:cNvPr id="6" name="drawio2pptx:shape:p14_sec04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对比实验与消融实验（CARLA）</a:t>
            </a:r>
          </a:p>
        </p:txBody>
      </p:sp>
      <p:sp>
        <p:nvSpPr>
          <p:cNvPr id="7" name="drawio2pptx:shape:p14_sec04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4_sec04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4_sec04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4_sec04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4_sec04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4_sec04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4_sec04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4_sec04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4_sec04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5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5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5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04. 实验结果</a:t>
            </a:r>
          </a:p>
        </p:txBody>
      </p:sp>
      <p:sp>
        <p:nvSpPr>
          <p:cNvPr id="6" name="drawio2pptx:shape:p15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5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5_t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5_t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表 4-2  自动驾驶路径规划对比实验结果（CARLA）</a:t>
            </a:r>
          </a:p>
        </p:txBody>
      </p:sp>
      <p:sp>
        <p:nvSpPr>
          <p:cNvPr id="10" name="drawio2pptx:shape:p15_h0"/>
          <p:cNvSpPr/>
          <p:nvPr/>
        </p:nvSpPr>
        <p:spPr>
          <a:xfrm>
            <a:off x="952500" y="2190750"/>
            <a:ext cx="30480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11" name="drawio2pptx:shape:p15_h1"/>
          <p:cNvSpPr/>
          <p:nvPr/>
        </p:nvSpPr>
        <p:spPr>
          <a:xfrm>
            <a:off x="4000500" y="2190750"/>
            <a:ext cx="22860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碰撞率↓</a:t>
            </a:r>
          </a:p>
        </p:txBody>
      </p:sp>
      <p:sp>
        <p:nvSpPr>
          <p:cNvPr id="12" name="drawio2pptx:shape:p15_h2"/>
          <p:cNvSpPr/>
          <p:nvPr/>
        </p:nvSpPr>
        <p:spPr>
          <a:xfrm>
            <a:off x="6286500" y="2190750"/>
            <a:ext cx="24765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任务完成率↑</a:t>
            </a:r>
          </a:p>
        </p:txBody>
      </p:sp>
      <p:sp>
        <p:nvSpPr>
          <p:cNvPr id="13" name="drawio2pptx:shape:p15_h3"/>
          <p:cNvSpPr/>
          <p:nvPr/>
        </p:nvSpPr>
        <p:spPr>
          <a:xfrm>
            <a:off x="8763000" y="2190750"/>
            <a:ext cx="28575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平均规划耗时↓</a:t>
            </a:r>
          </a:p>
        </p:txBody>
      </p:sp>
      <p:sp>
        <p:nvSpPr>
          <p:cNvPr id="14" name="drawio2pptx:shape:p15_h4"/>
          <p:cNvSpPr/>
          <p:nvPr/>
        </p:nvSpPr>
        <p:spPr>
          <a:xfrm>
            <a:off x="11620500" y="2190750"/>
            <a:ext cx="24765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轨迹平滑度↑</a:t>
            </a:r>
          </a:p>
        </p:txBody>
      </p:sp>
      <p:sp>
        <p:nvSpPr>
          <p:cNvPr id="15" name="drawio2pptx:shape:p15_r1c0"/>
          <p:cNvSpPr/>
          <p:nvPr/>
        </p:nvSpPr>
        <p:spPr>
          <a:xfrm>
            <a:off x="952500" y="2609850"/>
            <a:ext cx="3048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A*（基线）</a:t>
            </a:r>
          </a:p>
        </p:txBody>
      </p:sp>
      <p:sp>
        <p:nvSpPr>
          <p:cNvPr id="16" name="drawio2pptx:shape:p15_r1c1"/>
          <p:cNvSpPr/>
          <p:nvPr/>
        </p:nvSpPr>
        <p:spPr>
          <a:xfrm>
            <a:off x="4000500" y="2609850"/>
            <a:ext cx="2286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18.4%</a:t>
            </a:r>
          </a:p>
        </p:txBody>
      </p:sp>
      <p:sp>
        <p:nvSpPr>
          <p:cNvPr id="17" name="drawio2pptx:shape:p15_r1c2"/>
          <p:cNvSpPr/>
          <p:nvPr/>
        </p:nvSpPr>
        <p:spPr>
          <a:xfrm>
            <a:off x="6286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72.1%</a:t>
            </a:r>
          </a:p>
        </p:txBody>
      </p:sp>
      <p:sp>
        <p:nvSpPr>
          <p:cNvPr id="18" name="drawio2pptx:shape:p15_r1c3"/>
          <p:cNvSpPr/>
          <p:nvPr/>
        </p:nvSpPr>
        <p:spPr>
          <a:xfrm>
            <a:off x="8763000" y="2609850"/>
            <a:ext cx="2857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243 ms</a:t>
            </a:r>
          </a:p>
        </p:txBody>
      </p:sp>
      <p:sp>
        <p:nvSpPr>
          <p:cNvPr id="19" name="drawio2pptx:shape:p15_r1c4"/>
          <p:cNvSpPr/>
          <p:nvPr/>
        </p:nvSpPr>
        <p:spPr>
          <a:xfrm>
            <a:off x="11620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0.74</a:t>
            </a:r>
          </a:p>
        </p:txBody>
      </p:sp>
      <p:sp>
        <p:nvSpPr>
          <p:cNvPr id="20" name="drawio2pptx:shape:p15_r2c0"/>
          <p:cNvSpPr/>
          <p:nvPr/>
        </p:nvSpPr>
        <p:spPr>
          <a:xfrm>
            <a:off x="952500" y="3028950"/>
            <a:ext cx="3048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DDPG（基准）</a:t>
            </a:r>
          </a:p>
        </p:txBody>
      </p:sp>
      <p:sp>
        <p:nvSpPr>
          <p:cNvPr id="21" name="drawio2pptx:shape:p15_r2c1"/>
          <p:cNvSpPr/>
          <p:nvPr/>
        </p:nvSpPr>
        <p:spPr>
          <a:xfrm>
            <a:off x="4000500" y="302895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13.9%</a:t>
            </a:r>
          </a:p>
        </p:txBody>
      </p:sp>
      <p:sp>
        <p:nvSpPr>
          <p:cNvPr id="22" name="drawio2pptx:shape:p15_r2c2"/>
          <p:cNvSpPr/>
          <p:nvPr/>
        </p:nvSpPr>
        <p:spPr>
          <a:xfrm>
            <a:off x="6286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78.6%</a:t>
            </a:r>
          </a:p>
        </p:txBody>
      </p:sp>
      <p:sp>
        <p:nvSpPr>
          <p:cNvPr id="23" name="drawio2pptx:shape:p15_r2c3"/>
          <p:cNvSpPr/>
          <p:nvPr/>
        </p:nvSpPr>
        <p:spPr>
          <a:xfrm>
            <a:off x="8763000" y="30289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198 ms</a:t>
            </a:r>
          </a:p>
        </p:txBody>
      </p:sp>
      <p:sp>
        <p:nvSpPr>
          <p:cNvPr id="24" name="drawio2pptx:shape:p15_r2c4"/>
          <p:cNvSpPr/>
          <p:nvPr/>
        </p:nvSpPr>
        <p:spPr>
          <a:xfrm>
            <a:off x="11620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0.81</a:t>
            </a:r>
          </a:p>
        </p:txBody>
      </p:sp>
      <p:sp>
        <p:nvSpPr>
          <p:cNvPr id="25" name="drawio2pptx:shape:p15_r3c0"/>
          <p:cNvSpPr/>
          <p:nvPr/>
        </p:nvSpPr>
        <p:spPr>
          <a:xfrm>
            <a:off x="952500" y="3448050"/>
            <a:ext cx="30480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D-RL-Path（本文）</a:t>
            </a:r>
          </a:p>
        </p:txBody>
      </p:sp>
      <p:sp>
        <p:nvSpPr>
          <p:cNvPr id="26" name="drawio2pptx:shape:p15_r3c1"/>
          <p:cNvSpPr/>
          <p:nvPr/>
        </p:nvSpPr>
        <p:spPr>
          <a:xfrm>
            <a:off x="4000500" y="3448050"/>
            <a:ext cx="22860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11.3%</a:t>
            </a:r>
          </a:p>
        </p:txBody>
      </p:sp>
      <p:sp>
        <p:nvSpPr>
          <p:cNvPr id="27" name="drawio2pptx:shape:p15_r3c2"/>
          <p:cNvSpPr/>
          <p:nvPr/>
        </p:nvSpPr>
        <p:spPr>
          <a:xfrm>
            <a:off x="6286500" y="3448050"/>
            <a:ext cx="2476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83.5%</a:t>
            </a:r>
          </a:p>
        </p:txBody>
      </p:sp>
      <p:sp>
        <p:nvSpPr>
          <p:cNvPr id="28" name="drawio2pptx:shape:p15_r3c3"/>
          <p:cNvSpPr/>
          <p:nvPr/>
        </p:nvSpPr>
        <p:spPr>
          <a:xfrm>
            <a:off x="8763000" y="3448050"/>
            <a:ext cx="2857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176 ms</a:t>
            </a:r>
          </a:p>
        </p:txBody>
      </p:sp>
      <p:sp>
        <p:nvSpPr>
          <p:cNvPr id="29" name="drawio2pptx:shape:p15_r3c4"/>
          <p:cNvSpPr/>
          <p:nvPr/>
        </p:nvSpPr>
        <p:spPr>
          <a:xfrm>
            <a:off x="11620500" y="3448050"/>
            <a:ext cx="2476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0.87</a:t>
            </a:r>
          </a:p>
        </p:txBody>
      </p:sp>
      <p:sp>
        <p:nvSpPr>
          <p:cNvPr id="30" name="drawio2pptx:shape:p15_r4c0"/>
          <p:cNvSpPr/>
          <p:nvPr/>
        </p:nvSpPr>
        <p:spPr>
          <a:xfrm>
            <a:off x="952500" y="3867150"/>
            <a:ext cx="30480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Fusion-Path（本文）</a:t>
            </a:r>
          </a:p>
        </p:txBody>
      </p:sp>
      <p:sp>
        <p:nvSpPr>
          <p:cNvPr id="31" name="drawio2pptx:shape:p15_r4c1"/>
          <p:cNvSpPr/>
          <p:nvPr/>
        </p:nvSpPr>
        <p:spPr>
          <a:xfrm>
            <a:off x="4000500" y="3867150"/>
            <a:ext cx="22860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9.2%</a:t>
            </a:r>
          </a:p>
        </p:txBody>
      </p:sp>
      <p:sp>
        <p:nvSpPr>
          <p:cNvPr id="32" name="drawio2pptx:shape:p15_r4c2"/>
          <p:cNvSpPr/>
          <p:nvPr/>
        </p:nvSpPr>
        <p:spPr>
          <a:xfrm>
            <a:off x="6286500" y="3867150"/>
            <a:ext cx="2476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89.3%</a:t>
            </a:r>
          </a:p>
        </p:txBody>
      </p:sp>
      <p:sp>
        <p:nvSpPr>
          <p:cNvPr id="33" name="drawio2pptx:shape:p15_r4c3"/>
          <p:cNvSpPr/>
          <p:nvPr/>
        </p:nvSpPr>
        <p:spPr>
          <a:xfrm>
            <a:off x="8763000" y="3867150"/>
            <a:ext cx="2857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162 ms</a:t>
            </a:r>
          </a:p>
        </p:txBody>
      </p:sp>
      <p:sp>
        <p:nvSpPr>
          <p:cNvPr id="34" name="drawio2pptx:shape:p15_r4c4"/>
          <p:cNvSpPr/>
          <p:nvPr/>
        </p:nvSpPr>
        <p:spPr>
          <a:xfrm>
            <a:off x="11620500" y="3867150"/>
            <a:ext cx="2476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0.91</a:t>
            </a:r>
          </a:p>
        </p:txBody>
      </p:sp>
      <p:sp>
        <p:nvSpPr>
          <p:cNvPr id="35" name="drawio2pptx:shape:p15_pdp4K8_badge"/>
          <p:cNvSpPr/>
          <p:nvPr/>
        </p:nvSpPr>
        <p:spPr>
          <a:xfrm>
            <a:off x="952500" y="4953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rawio2pptx:shape:p15_ffUF0e_t"/>
          <p:cNvSpPr/>
          <p:nvPr/>
        </p:nvSpPr>
        <p:spPr>
          <a:xfrm>
            <a:off x="1143000" y="4953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结论要点</a:t>
            </a:r>
          </a:p>
        </p:txBody>
      </p:sp>
      <p:sp>
        <p:nvSpPr>
          <p:cNvPr id="37" name="drawio2pptx:shape:p15_WIXiiQ_b"/>
          <p:cNvSpPr/>
          <p:nvPr/>
        </p:nvSpPr>
        <p:spPr>
          <a:xfrm>
            <a:off x="1143000" y="5429250"/>
            <a:ext cx="16002000" cy="400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D-RL-Path 在避障精度与规划效率上优于基准算法
• Fusion-Path 通过多传感器融合进一步提升鲁棒性与综合性能
• 结果验证了 DRL 优化与融合网络两条创新路线的有效性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6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6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6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04. 实验结果</a:t>
            </a:r>
          </a:p>
        </p:txBody>
      </p:sp>
      <p:sp>
        <p:nvSpPr>
          <p:cNvPr id="6" name="drawio2pptx:shape:p16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6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6_a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6_a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表 4-6  消融实验结果（Fusion-Path 各模块贡献）</a:t>
            </a:r>
          </a:p>
        </p:txBody>
      </p:sp>
      <p:sp>
        <p:nvSpPr>
          <p:cNvPr id="10" name="drawio2pptx:shape:p16_ah0"/>
          <p:cNvSpPr/>
          <p:nvPr/>
        </p:nvSpPr>
        <p:spPr>
          <a:xfrm>
            <a:off x="952500" y="2190750"/>
            <a:ext cx="49530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11" name="drawio2pptx:shape:p16_ah1"/>
          <p:cNvSpPr/>
          <p:nvPr/>
        </p:nvSpPr>
        <p:spPr>
          <a:xfrm>
            <a:off x="5905500" y="2190750"/>
            <a:ext cx="24765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碰撞率↓</a:t>
            </a:r>
          </a:p>
        </p:txBody>
      </p:sp>
      <p:sp>
        <p:nvSpPr>
          <p:cNvPr id="12" name="drawio2pptx:shape:p16_ah2"/>
          <p:cNvSpPr/>
          <p:nvPr/>
        </p:nvSpPr>
        <p:spPr>
          <a:xfrm>
            <a:off x="8382000" y="2190750"/>
            <a:ext cx="2857500" cy="419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任务完成率↑</a:t>
            </a:r>
          </a:p>
        </p:txBody>
      </p:sp>
      <p:sp>
        <p:nvSpPr>
          <p:cNvPr id="13" name="drawio2pptx:shape:p16_ar1c0"/>
          <p:cNvSpPr/>
          <p:nvPr/>
        </p:nvSpPr>
        <p:spPr>
          <a:xfrm>
            <a:off x="952500" y="2609850"/>
            <a:ext cx="4953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w/o CNN（仅用传统特征）</a:t>
            </a:r>
          </a:p>
        </p:txBody>
      </p:sp>
      <p:sp>
        <p:nvSpPr>
          <p:cNvPr id="14" name="drawio2pptx:shape:p16_ar1c1"/>
          <p:cNvSpPr/>
          <p:nvPr/>
        </p:nvSpPr>
        <p:spPr>
          <a:xfrm>
            <a:off x="5905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14.8%</a:t>
            </a:r>
          </a:p>
        </p:txBody>
      </p:sp>
      <p:sp>
        <p:nvSpPr>
          <p:cNvPr id="15" name="drawio2pptx:shape:p16_ar1c2"/>
          <p:cNvSpPr/>
          <p:nvPr/>
        </p:nvSpPr>
        <p:spPr>
          <a:xfrm>
            <a:off x="8382000" y="2609850"/>
            <a:ext cx="2857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79.2%</a:t>
            </a:r>
          </a:p>
        </p:txBody>
      </p:sp>
      <p:sp>
        <p:nvSpPr>
          <p:cNvPr id="16" name="drawio2pptx:shape:p16_ar2c0"/>
          <p:cNvSpPr/>
          <p:nvPr/>
        </p:nvSpPr>
        <p:spPr>
          <a:xfrm>
            <a:off x="952500" y="3028950"/>
            <a:ext cx="4953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w/o RNN（仅用单帧特征）</a:t>
            </a:r>
          </a:p>
        </p:txBody>
      </p:sp>
      <p:sp>
        <p:nvSpPr>
          <p:cNvPr id="17" name="drawio2pptx:shape:p16_ar2c1"/>
          <p:cNvSpPr/>
          <p:nvPr/>
        </p:nvSpPr>
        <p:spPr>
          <a:xfrm>
            <a:off x="5905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12.1%</a:t>
            </a:r>
          </a:p>
        </p:txBody>
      </p:sp>
      <p:sp>
        <p:nvSpPr>
          <p:cNvPr id="18" name="drawio2pptx:shape:p16_ar2c2"/>
          <p:cNvSpPr/>
          <p:nvPr/>
        </p:nvSpPr>
        <p:spPr>
          <a:xfrm>
            <a:off x="8382000" y="30289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84.7%</a:t>
            </a:r>
          </a:p>
        </p:txBody>
      </p:sp>
      <p:sp>
        <p:nvSpPr>
          <p:cNvPr id="19" name="drawio2pptx:shape:p16_ar3c0"/>
          <p:cNvSpPr/>
          <p:nvPr/>
        </p:nvSpPr>
        <p:spPr>
          <a:xfrm>
            <a:off x="952500" y="3448050"/>
            <a:ext cx="49530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Fusion-Path 完整模型（本文）</a:t>
            </a:r>
          </a:p>
        </p:txBody>
      </p:sp>
      <p:sp>
        <p:nvSpPr>
          <p:cNvPr id="20" name="drawio2pptx:shape:p16_ar3c1"/>
          <p:cNvSpPr/>
          <p:nvPr/>
        </p:nvSpPr>
        <p:spPr>
          <a:xfrm>
            <a:off x="5905500" y="3448050"/>
            <a:ext cx="24765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9.2%</a:t>
            </a:r>
          </a:p>
        </p:txBody>
      </p:sp>
      <p:sp>
        <p:nvSpPr>
          <p:cNvPr id="21" name="drawio2pptx:shape:p16_ar3c2"/>
          <p:cNvSpPr/>
          <p:nvPr/>
        </p:nvSpPr>
        <p:spPr>
          <a:xfrm>
            <a:off x="8382000" y="3448050"/>
            <a:ext cx="28575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89.3%</a:t>
            </a:r>
          </a:p>
        </p:txBody>
      </p:sp>
      <p:sp>
        <p:nvSpPr>
          <p:cNvPr id="22" name="drawio2pptx:shape:p16_E8JkqH_badge"/>
          <p:cNvSpPr/>
          <p:nvPr/>
        </p:nvSpPr>
        <p:spPr>
          <a:xfrm>
            <a:off x="952500" y="6858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6_3MB9n7_t"/>
          <p:cNvSpPr/>
          <p:nvPr/>
        </p:nvSpPr>
        <p:spPr>
          <a:xfrm>
            <a:off x="1143000" y="685800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模块贡献</a:t>
            </a:r>
          </a:p>
        </p:txBody>
      </p:sp>
      <p:sp>
        <p:nvSpPr>
          <p:cNvPr id="24" name="drawio2pptx:shape:p16_IWUSmT_b"/>
          <p:cNvSpPr/>
          <p:nvPr/>
        </p:nvSpPr>
        <p:spPr>
          <a:xfrm>
            <a:off x="1143000" y="7334250"/>
            <a:ext cx="74295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CNN 空间特征对感知与决策至关重要
• RNN 时序建模显著增强动态场景稳定性
• 完整模型取得最优综合性能</a:t>
            </a:r>
          </a:p>
        </p:txBody>
      </p:sp>
      <p:sp>
        <p:nvSpPr>
          <p:cNvPr id="25" name="drawio2pptx:shape:p16_imgbox"/>
          <p:cNvSpPr/>
          <p:nvPr/>
        </p:nvSpPr>
        <p:spPr>
          <a:xfrm>
            <a:off x="9334500" y="6858000"/>
            <a:ext cx="8001000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图 4-3 / 图 3-3：核心模块示意（占位）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7_sec0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7_sec05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05</a:t>
            </a:r>
          </a:p>
        </p:txBody>
      </p:sp>
      <p:sp>
        <p:nvSpPr>
          <p:cNvPr id="4" name="drawio2pptx:shape:p17_sec05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5" name="drawio2pptx:shape:p17_sec05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系统设计与实现</a:t>
            </a:r>
          </a:p>
        </p:txBody>
      </p:sp>
      <p:sp>
        <p:nvSpPr>
          <p:cNvPr id="6" name="drawio2pptx:shape:p17_sec05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前后端分离架构与仿真平台验证</a:t>
            </a:r>
          </a:p>
        </p:txBody>
      </p:sp>
      <p:sp>
        <p:nvSpPr>
          <p:cNvPr id="7" name="drawio2pptx:shape:p17_sec05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7_sec05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7_sec05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7_sec05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7_sec05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7_sec05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7_sec05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7_sec05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7_sec05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8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8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8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8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05. 系统设计与实现</a:t>
            </a:r>
          </a:p>
        </p:txBody>
      </p:sp>
      <p:sp>
        <p:nvSpPr>
          <p:cNvPr id="6" name="drawio2pptx:shape:p18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8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8_a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8_a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图 5-2  自动驾驶系统架构图（前后端分离）</a:t>
            </a:r>
          </a:p>
        </p:txBody>
      </p:sp>
      <p:sp>
        <p:nvSpPr>
          <p:cNvPr id="10" name="drawio2pptx:shape:p18_fe"/>
          <p:cNvSpPr/>
          <p:nvPr/>
        </p:nvSpPr>
        <p:spPr>
          <a:xfrm>
            <a:off x="952500" y="2190750"/>
            <a:ext cx="16383000" cy="4953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前端层（React）</a:t>
            </a:r>
          </a:p>
        </p:txBody>
      </p:sp>
      <p:sp>
        <p:nvSpPr>
          <p:cNvPr id="11" name="drawio2pptx:shape:p18_fe0"/>
          <p:cNvSpPr/>
          <p:nvPr/>
        </p:nvSpPr>
        <p:spPr>
          <a:xfrm>
            <a:off x="13335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路径可视化</a:t>
            </a:r>
          </a:p>
        </p:txBody>
      </p:sp>
      <p:sp>
        <p:nvSpPr>
          <p:cNvPr id="12" name="drawio2pptx:shape:p18_fe1"/>
          <p:cNvSpPr/>
          <p:nvPr/>
        </p:nvSpPr>
        <p:spPr>
          <a:xfrm>
            <a:off x="53340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传感器数据监控</a:t>
            </a:r>
          </a:p>
        </p:txBody>
      </p:sp>
      <p:sp>
        <p:nvSpPr>
          <p:cNvPr id="13" name="drawio2pptx:shape:p18_fe2"/>
          <p:cNvSpPr/>
          <p:nvPr/>
        </p:nvSpPr>
        <p:spPr>
          <a:xfrm>
            <a:off x="93345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车辆状态监控</a:t>
            </a:r>
          </a:p>
        </p:txBody>
      </p:sp>
      <p:sp>
        <p:nvSpPr>
          <p:cNvPr id="14" name="drawio2pptx:shape:p18_fe3"/>
          <p:cNvSpPr/>
          <p:nvPr/>
        </p:nvSpPr>
        <p:spPr>
          <a:xfrm>
            <a:off x="133350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任务管理与配置</a:t>
            </a:r>
          </a:p>
        </p:txBody>
      </p:sp>
      <p:sp>
        <p:nvSpPr>
          <p:cNvPr id="15" name="drawio2pptx:shape:p18_api"/>
          <p:cNvSpPr/>
          <p:nvPr/>
        </p:nvSpPr>
        <p:spPr>
          <a:xfrm>
            <a:off x="0" y="3524250"/>
            <a:ext cx="1828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REST API / WebSocket</a:t>
            </a:r>
          </a:p>
        </p:txBody>
      </p:sp>
      <p:sp>
        <p:nvSpPr>
          <p:cNvPr id="16" name="drawio2pptx:shape:p18_be"/>
          <p:cNvSpPr/>
          <p:nvPr/>
        </p:nvSpPr>
        <p:spPr>
          <a:xfrm>
            <a:off x="952500" y="4000500"/>
            <a:ext cx="16383000" cy="4953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后端层（TensorFlow + ROS）</a:t>
            </a:r>
          </a:p>
        </p:txBody>
      </p:sp>
      <p:sp>
        <p:nvSpPr>
          <p:cNvPr id="17" name="drawio2pptx:shape:p18_be0"/>
          <p:cNvSpPr/>
          <p:nvPr/>
        </p:nvSpPr>
        <p:spPr>
          <a:xfrm>
            <a:off x="13335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路径规划模块（D-RL-Path / Fusion-Path）</a:t>
            </a:r>
          </a:p>
        </p:txBody>
      </p:sp>
      <p:sp>
        <p:nvSpPr>
          <p:cNvPr id="18" name="drawio2pptx:shape:p18_be1"/>
          <p:cNvSpPr/>
          <p:nvPr/>
        </p:nvSpPr>
        <p:spPr>
          <a:xfrm>
            <a:off x="53340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传感器数据处理（LiDAR / Camera / Radar）</a:t>
            </a:r>
          </a:p>
        </p:txBody>
      </p:sp>
      <p:sp>
        <p:nvSpPr>
          <p:cNvPr id="19" name="drawio2pptx:shape:p18_be2"/>
          <p:cNvSpPr/>
          <p:nvPr/>
        </p:nvSpPr>
        <p:spPr>
          <a:xfrm>
            <a:off x="93345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车辆控制模块（ROS 节点通信）</a:t>
            </a:r>
          </a:p>
        </p:txBody>
      </p:sp>
      <p:sp>
        <p:nvSpPr>
          <p:cNvPr id="20" name="drawio2pptx:shape:p18_be3"/>
          <p:cNvSpPr/>
          <p:nvPr/>
        </p:nvSpPr>
        <p:spPr>
          <a:xfrm>
            <a:off x="133350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地图构建模块（CARLA 接入）</a:t>
            </a:r>
          </a:p>
        </p:txBody>
      </p:sp>
      <p:sp>
        <p:nvSpPr>
          <p:cNvPr id="21" name="drawio2pptx:shape:p18_sim"/>
          <p:cNvSpPr/>
          <p:nvPr/>
        </p:nvSpPr>
        <p:spPr>
          <a:xfrm>
            <a:off x="952500" y="5619750"/>
            <a:ext cx="16383000" cy="49530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仿真平台（CARLA）</a:t>
            </a:r>
          </a:p>
        </p:txBody>
      </p:sp>
      <p:sp>
        <p:nvSpPr>
          <p:cNvPr id="22" name="drawio2pptx:shape:p18_tzQPxC_badge"/>
          <p:cNvSpPr/>
          <p:nvPr/>
        </p:nvSpPr>
        <p:spPr>
          <a:xfrm>
            <a:off x="952500" y="6477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8_5HChpo_t"/>
          <p:cNvSpPr/>
          <p:nvPr/>
        </p:nvSpPr>
        <p:spPr>
          <a:xfrm>
            <a:off x="1143000" y="6477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系统功能特点</a:t>
            </a:r>
          </a:p>
        </p:txBody>
      </p:sp>
      <p:sp>
        <p:nvSpPr>
          <p:cNvPr id="24" name="drawio2pptx:shape:p18_evbLJo_b"/>
          <p:cNvSpPr/>
          <p:nvPr/>
        </p:nvSpPr>
        <p:spPr>
          <a:xfrm>
            <a:off x="1143000" y="6953250"/>
            <a:ext cx="160020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端到端路径规划与实时控制闭环
• 多传感器数据接入、同步与融合
• 实时可视化监控与任务管理
• CARLA 场景验证与演示复现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9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9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9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9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05. 系统设计与实现</a:t>
            </a:r>
          </a:p>
        </p:txBody>
      </p:sp>
      <p:sp>
        <p:nvSpPr>
          <p:cNvPr id="6" name="drawio2pptx:shape:p19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9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9_LoaeTO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9_doe5c3_t"/>
          <p:cNvSpPr/>
          <p:nvPr/>
        </p:nvSpPr>
        <p:spPr>
          <a:xfrm>
            <a:off x="1143000" y="161925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系统演示与流程</a:t>
            </a:r>
          </a:p>
        </p:txBody>
      </p:sp>
      <p:sp>
        <p:nvSpPr>
          <p:cNvPr id="10" name="drawio2pptx:shape:p19_veGprQ_b"/>
          <p:cNvSpPr/>
          <p:nvPr/>
        </p:nvSpPr>
        <p:spPr>
          <a:xfrm>
            <a:off x="1143000" y="2095500"/>
            <a:ext cx="74295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场景配置：道路/障碍物/交通规则
• 传感器接入：点云/图像/雷达测距
• 在线规划：策略输出轨迹与控制指令
• 界面展示：轨迹、速度、碰撞告警、延迟等</a:t>
            </a:r>
          </a:p>
        </p:txBody>
      </p:sp>
      <p:sp>
        <p:nvSpPr>
          <p:cNvPr id="11" name="drawio2pptx:shape:p19_ui"/>
          <p:cNvSpPr/>
          <p:nvPr/>
        </p:nvSpPr>
        <p:spPr>
          <a:xfrm>
            <a:off x="9334500" y="1619250"/>
            <a:ext cx="8001000" cy="495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系统界面/效果图（占位）</a:t>
            </a:r>
          </a:p>
        </p:txBody>
      </p:sp>
      <p:sp>
        <p:nvSpPr>
          <p:cNvPr id="12" name="drawio2pptx:shape:p19_FnIiU7_badge"/>
          <p:cNvSpPr/>
          <p:nvPr/>
        </p:nvSpPr>
        <p:spPr>
          <a:xfrm>
            <a:off x="9334500" y="6762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9_4KKEpY_t"/>
          <p:cNvSpPr/>
          <p:nvPr/>
        </p:nvSpPr>
        <p:spPr>
          <a:xfrm>
            <a:off x="9525000" y="6762750"/>
            <a:ext cx="7810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工程要点</a:t>
            </a:r>
          </a:p>
        </p:txBody>
      </p:sp>
      <p:sp>
        <p:nvSpPr>
          <p:cNvPr id="14" name="drawio2pptx:shape:p19_EZAmgg_b"/>
          <p:cNvSpPr/>
          <p:nvPr/>
        </p:nvSpPr>
        <p:spPr>
          <a:xfrm>
            <a:off x="9525000" y="7239000"/>
            <a:ext cx="7620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多线程/异步：感知与控制解耦，降低延迟
• 模型部署：推理速度与稳定性优先
• 日志与回放：支持实验复现与调参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0_sec0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0_sec06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06</a:t>
            </a:r>
          </a:p>
        </p:txBody>
      </p:sp>
      <p:sp>
        <p:nvSpPr>
          <p:cNvPr id="4" name="drawio2pptx:shape:p20_sec06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5" name="drawio2pptx:shape:p20_sec06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6" name="drawio2pptx:shape:p20_sec06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0_sec06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20_sec06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0_sec06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0_sec06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0_sec06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20_sec06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0_sec06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0_sec06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1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06. 总结与展望</a:t>
            </a:r>
          </a:p>
        </p:txBody>
      </p:sp>
      <p:sp>
        <p:nvSpPr>
          <p:cNvPr id="6" name="drawio2pptx:shape:p21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1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21_lbox"/>
          <p:cNvSpPr/>
          <p:nvPr/>
        </p:nvSpPr>
        <p:spPr>
          <a:xfrm>
            <a:off x="952500" y="1619250"/>
            <a:ext cx="7810500" cy="723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1_lbdg"/>
          <p:cNvSpPr/>
          <p:nvPr/>
        </p:nvSpPr>
        <p:spPr>
          <a:xfrm>
            <a:off x="952500" y="1619250"/>
            <a:ext cx="114300" cy="7239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1_lt"/>
          <p:cNvSpPr/>
          <p:nvPr/>
        </p:nvSpPr>
        <p:spPr>
          <a:xfrm>
            <a:off x="1238250" y="1714500"/>
            <a:ext cx="7429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0170C1"/>
                </a:solidFill>
                <a:latin typeface="微软雅黑"/>
              </a:rPr>
              <a:t>工作总结</a:t>
            </a:r>
          </a:p>
        </p:txBody>
      </p:sp>
      <p:sp>
        <p:nvSpPr>
          <p:cNvPr id="11" name="drawio2pptx:shape:p21_lb"/>
          <p:cNvSpPr/>
          <p:nvPr/>
        </p:nvSpPr>
        <p:spPr>
          <a:xfrm>
            <a:off x="1238250" y="2286000"/>
            <a:ext cx="7429500" cy="628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1. 提出 D-RL-Path：基于 DDPG 的路径规划优化，提升避障精度与实时性
2. 提出 Fusion-Path：CNN+RNN 多传感器融合网络，提升鲁棒性与精度
3. 构建 CARLA 仿真数据集与指标体系，完成对比与消融实验验证
4. 实现前后端分离系统原型，完成仿真验证与演示</a:t>
            </a:r>
          </a:p>
        </p:txBody>
      </p:sp>
      <p:sp>
        <p:nvSpPr>
          <p:cNvPr id="12" name="drawio2pptx:shape:p21_rbox"/>
          <p:cNvSpPr/>
          <p:nvPr/>
        </p:nvSpPr>
        <p:spPr>
          <a:xfrm>
            <a:off x="9525000" y="1619250"/>
            <a:ext cx="7810500" cy="723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1_rbdg"/>
          <p:cNvSpPr/>
          <p:nvPr/>
        </p:nvSpPr>
        <p:spPr>
          <a:xfrm>
            <a:off x="9525000" y="1619250"/>
            <a:ext cx="114300" cy="7239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1_rt"/>
          <p:cNvSpPr/>
          <p:nvPr/>
        </p:nvSpPr>
        <p:spPr>
          <a:xfrm>
            <a:off x="9810750" y="1714500"/>
            <a:ext cx="7429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C9A84C"/>
                </a:solidFill>
                <a:latin typeface="微软雅黑"/>
              </a:rPr>
              <a:t>未来展望</a:t>
            </a:r>
          </a:p>
        </p:txBody>
      </p:sp>
      <p:sp>
        <p:nvSpPr>
          <p:cNvPr id="15" name="drawio2pptx:shape:p21_rb"/>
          <p:cNvSpPr/>
          <p:nvPr/>
        </p:nvSpPr>
        <p:spPr>
          <a:xfrm>
            <a:off x="9810750" y="2286000"/>
            <a:ext cx="7429500" cy="628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→ 引入更大规模真实道路数据，提升泛化能力与长尾场景鲁棒性
→ 研究多传感器实时融合的轻量化方案，降低计算开销
→ 探索基于 Transformer 的时序建模与决策，替代部分 RNN 结构
→ 推进真实路测或更高保真仿真评测，验证复杂路况可靠性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已有成果</a:t>
            </a:r>
          </a:p>
        </p:txBody>
      </p:sp>
      <p:sp>
        <p:nvSpPr>
          <p:cNvPr id="6" name="drawio2pptx:shape:p2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22_QBwBAD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2_3UdRPP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成果清单（可替换为真实信息）</a:t>
            </a:r>
          </a:p>
        </p:txBody>
      </p:sp>
      <p:sp>
        <p:nvSpPr>
          <p:cNvPr id="10" name="drawio2pptx:shape:p22_gdzUvZ_b"/>
          <p:cNvSpPr/>
          <p:nvPr/>
        </p:nvSpPr>
        <p:spPr>
          <a:xfrm>
            <a:off x="1143000" y="2095500"/>
            <a:ext cx="16002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论文工作：D-RL-Path / Fusion-Path 方法与系统实现
• 专利/软著：XXX（如有请替换）
• 竞赛/项目：XXX（如有请替换）
• 开源/报告：代码与实验复现说明（可选）</a:t>
            </a:r>
          </a:p>
        </p:txBody>
      </p:sp>
      <p:sp>
        <p:nvSpPr>
          <p:cNvPr id="11" name="drawio2pptx:shape:p22_note"/>
          <p:cNvSpPr/>
          <p:nvPr/>
        </p:nvSpPr>
        <p:spPr>
          <a:xfrm>
            <a:off x="952500" y="8763000"/>
            <a:ext cx="163830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提示：如需正式答辩，请将本页内容替换为真实成果（专利号/软著号/发表情况）。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3_top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3_bot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3_thx"/>
          <p:cNvSpPr/>
          <p:nvPr/>
        </p:nvSpPr>
        <p:spPr>
          <a:xfrm>
            <a:off x="0" y="2762250"/>
            <a:ext cx="18288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i="0" u="none">
                <a:solidFill>
                  <a:srgbClr val="FFFFFF"/>
                </a:solidFill>
                <a:latin typeface="微软雅黑"/>
              </a:rPr>
              <a:t>感谢各位老师的聆听与指导！</a:t>
            </a:r>
          </a:p>
        </p:txBody>
      </p:sp>
      <p:sp>
        <p:nvSpPr>
          <p:cNvPr id="6" name="drawio2pptx:shape:p23_line"/>
          <p:cNvSpPr/>
          <p:nvPr/>
        </p:nvSpPr>
        <p:spPr>
          <a:xfrm>
            <a:off x="4953000" y="4000500"/>
            <a:ext cx="8382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3_qa"/>
          <p:cNvSpPr/>
          <p:nvPr/>
        </p:nvSpPr>
        <p:spPr>
          <a:xfrm>
            <a:off x="0" y="4381500"/>
            <a:ext cx="182880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FFFFFF"/>
                </a:solidFill>
                <a:latin typeface="微软雅黑"/>
              </a:rPr>
              <a:t>Q  &amp;  A</a:t>
            </a:r>
          </a:p>
        </p:txBody>
      </p:sp>
      <p:sp>
        <p:nvSpPr>
          <p:cNvPr id="8" name="drawio2pptx:shape:p23_sign"/>
          <p:cNvSpPr/>
          <p:nvPr/>
        </p:nvSpPr>
        <p:spPr>
          <a:xfrm>
            <a:off x="0" y="8572500"/>
            <a:ext cx="18288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u="none">
                <a:solidFill>
                  <a:srgbClr val="DDE3EE"/>
                </a:solidFill>
                <a:latin typeface="微软雅黑"/>
              </a:rPr>
              <a:t>汇报人：张三    指导教师：李教授    2026 年 3 月</a:t>
            </a:r>
          </a:p>
        </p:txBody>
      </p:sp>
      <p:sp>
        <p:nvSpPr>
          <p:cNvPr id="9" name="drawio2pptx:shape:p23_d0"/>
          <p:cNvSpPr/>
          <p:nvPr/>
        </p:nvSpPr>
        <p:spPr>
          <a:xfrm>
            <a:off x="13335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3_d1"/>
          <p:cNvSpPr/>
          <p:nvPr/>
        </p:nvSpPr>
        <p:spPr>
          <a:xfrm>
            <a:off x="14859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3_d2"/>
          <p:cNvSpPr/>
          <p:nvPr/>
        </p:nvSpPr>
        <p:spPr>
          <a:xfrm>
            <a:off x="16383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23_d3"/>
          <p:cNvSpPr/>
          <p:nvPr/>
        </p:nvSpPr>
        <p:spPr>
          <a:xfrm>
            <a:off x="17907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3_d4"/>
          <p:cNvSpPr/>
          <p:nvPr/>
        </p:nvSpPr>
        <p:spPr>
          <a:xfrm>
            <a:off x="19431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3_d5"/>
          <p:cNvSpPr/>
          <p:nvPr/>
        </p:nvSpPr>
        <p:spPr>
          <a:xfrm>
            <a:off x="20955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23_d6"/>
          <p:cNvSpPr/>
          <p:nvPr/>
        </p:nvSpPr>
        <p:spPr>
          <a:xfrm>
            <a:off x="22479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rawio2pptx:shape:p23_d7"/>
          <p:cNvSpPr/>
          <p:nvPr/>
        </p:nvSpPr>
        <p:spPr>
          <a:xfrm>
            <a:off x="24003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997</Words>
  <Application>Microsoft Office PowerPoint</Application>
  <PresentationFormat>自定义</PresentationFormat>
  <Paragraphs>175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x</cp:lastModifiedBy>
  <cp:revision>2</cp:revision>
  <dcterms:created xsi:type="dcterms:W3CDTF">2013-01-27T09:14:16Z</dcterms:created>
  <dcterms:modified xsi:type="dcterms:W3CDTF">2026-03-13T10:31:10Z</dcterms:modified>
  <cp:category/>
</cp:coreProperties>
</file>